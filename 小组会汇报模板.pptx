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568" r:id="rId3"/>
    <p:sldId id="273" r:id="rId5"/>
    <p:sldId id="11088756" r:id="rId6"/>
    <p:sldId id="575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2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40" clrIdx="0"/>
  <p:cmAuthor id="2" name="徐斌" initials="徐斌" lastIdx="1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FDF5D9"/>
    <a:srgbClr val="CC0000"/>
    <a:srgbClr val="B2B2B2"/>
    <a:srgbClr val="202020"/>
    <a:srgbClr val="323232"/>
    <a:srgbClr val="CC3300"/>
    <a:srgbClr val="FF33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7" autoAdjust="0"/>
    <p:restoredTop sz="71644" autoAdjust="0"/>
  </p:normalViewPr>
  <p:slideViewPr>
    <p:cSldViewPr snapToGrid="0" showGuides="1">
      <p:cViewPr varScale="1">
        <p:scale>
          <a:sx n="83" d="100"/>
          <a:sy n="83" d="100"/>
        </p:scale>
        <p:origin x="92" y="744"/>
      </p:cViewPr>
      <p:guideLst>
        <p:guide orient="horz" pos="2052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D7C6D-1544-4DDC-9D63-62B4749E77B5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4A5A78-DBBB-414B-8FC3-457060025D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解析过的文档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D7C6D-1544-4DDC-9D63-62B4749E77B5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1" cy="2387600"/>
          </a:xfrm>
          <a:prstGeom prst="rect">
            <a:avLst/>
          </a:prstGeom>
        </p:spPr>
        <p:txBody>
          <a:bodyPr lIns="91415" tIns="45708" rIns="91415" bIns="45708" anchor="b"/>
          <a:lstStyle>
            <a:lvl1pPr algn="ctr">
              <a:defRPr sz="6000">
                <a:latin typeface="思源黑体 Light" panose="020B0300000000000000" pitchFamily="34" charset="-122"/>
                <a:ea typeface="字魂105号-简雅黑" panose="000005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1" cy="1655762"/>
          </a:xfrm>
          <a:prstGeom prst="rect">
            <a:avLst/>
          </a:prstGeom>
        </p:spPr>
        <p:txBody>
          <a:bodyPr lIns="91415" tIns="45708" rIns="91415" bIns="45708"/>
          <a:lstStyle>
            <a:lvl1pPr marL="0" indent="0" algn="ctr">
              <a:buNone/>
              <a:defRPr sz="2400">
                <a:latin typeface="思源黑体 Light" panose="020B0300000000000000" pitchFamily="34" charset="-122"/>
                <a:ea typeface="字魂105号-简雅黑" panose="00000500000000000000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33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lIns="91415" tIns="45708" rIns="91415" bIns="45708"/>
          <a:lstStyle>
            <a:lvl1pPr>
              <a:defRPr>
                <a:latin typeface="思源黑体 Light" panose="020B0300000000000000" pitchFamily="34" charset="-122"/>
                <a:ea typeface="字魂105号-简雅黑" panose="00000500000000000000" pitchFamily="2" charset="-122"/>
              </a:defRPr>
            </a:lvl1pPr>
          </a:lstStyle>
          <a:p>
            <a:fld id="{2449DFC4-FDED-4B41-982D-8052FC63661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1" cy="365125"/>
          </a:xfrm>
          <a:prstGeom prst="rect">
            <a:avLst/>
          </a:prstGeom>
        </p:spPr>
        <p:txBody>
          <a:bodyPr lIns="91415" tIns="45708" rIns="91415" bIns="45708"/>
          <a:lstStyle>
            <a:lvl1pPr>
              <a:defRPr>
                <a:latin typeface="思源黑体 Light" panose="020B0300000000000000" pitchFamily="34" charset="-122"/>
                <a:ea typeface="字魂105号-简雅黑" panose="00000500000000000000" pitchFamily="2" charset="-122"/>
              </a:defRPr>
            </a:lvl1pPr>
          </a:lstStyle>
          <a:p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91415" tIns="45708" rIns="91415" bIns="45708"/>
          <a:lstStyle>
            <a:lvl1pPr>
              <a:defRPr>
                <a:latin typeface="思源黑体 Light" panose="020B0300000000000000" pitchFamily="34" charset="-122"/>
                <a:ea typeface="字魂105号-简雅黑" panose="00000500000000000000" pitchFamily="2" charset="-122"/>
              </a:defRPr>
            </a:lvl1pPr>
          </a:lstStyle>
          <a:p>
            <a:fld id="{C65FFF5A-79EA-4B61-A2E3-443713E82035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-15240" y="748030"/>
            <a:ext cx="11800840" cy="27940"/>
          </a:xfrm>
          <a:prstGeom prst="line">
            <a:avLst/>
          </a:prstGeom>
          <a:ln w="38100">
            <a:gradFill>
              <a:gsLst>
                <a:gs pos="14000">
                  <a:srgbClr val="57A7E2"/>
                </a:gs>
                <a:gs pos="3000">
                  <a:srgbClr val="22498F"/>
                </a:gs>
                <a:gs pos="26000">
                  <a:srgbClr val="16DEDE"/>
                </a:gs>
                <a:gs pos="41000">
                  <a:schemeClr val="bg2">
                    <a:lumMod val="9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微信图片_20210430113913"/>
          <p:cNvPicPr>
            <a:picLocks noChangeAspect="1"/>
          </p:cNvPicPr>
          <p:nvPr userDrawn="1"/>
        </p:nvPicPr>
        <p:blipFill>
          <a:blip r:embed="rId2"/>
          <a:srcRect l="26640" t="29309" r="37628" b="41683"/>
          <a:stretch>
            <a:fillRect/>
          </a:stretch>
        </p:blipFill>
        <p:spPr>
          <a:xfrm>
            <a:off x="178435" y="170180"/>
            <a:ext cx="638175" cy="467360"/>
          </a:xfrm>
          <a:prstGeom prst="rect">
            <a:avLst/>
          </a:prstGeom>
        </p:spPr>
      </p:pic>
      <p:pic>
        <p:nvPicPr>
          <p:cNvPr id="6" name="图片 5" descr="深色"/>
          <p:cNvPicPr>
            <a:picLocks noChangeAspect="1"/>
          </p:cNvPicPr>
          <p:nvPr userDrawn="1"/>
        </p:nvPicPr>
        <p:blipFill>
          <a:blip r:embed="rId3"/>
          <a:srcRect t="43769"/>
          <a:stretch>
            <a:fillRect/>
          </a:stretch>
        </p:blipFill>
        <p:spPr>
          <a:xfrm>
            <a:off x="-14605" y="3769360"/>
            <a:ext cx="12221210" cy="308864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956733" y="170180"/>
            <a:ext cx="6016214" cy="46736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深色"/>
          <p:cNvPicPr>
            <a:picLocks noChangeAspect="1"/>
          </p:cNvPicPr>
          <p:nvPr userDrawn="1"/>
        </p:nvPicPr>
        <p:blipFill>
          <a:blip r:embed="rId2"/>
          <a:srcRect t="43769"/>
          <a:stretch>
            <a:fillRect/>
          </a:stretch>
        </p:blipFill>
        <p:spPr>
          <a:xfrm>
            <a:off x="-14605" y="3769360"/>
            <a:ext cx="12221210" cy="308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95180F7-030C-46DE-9456-FEE51A06414A}" type="datetimeFigureOut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FCAB5F6-4A7C-4318-9AB9-9ABD6526579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6016214" cy="65084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20128E6-266C-4620-851F-B8449E760CBF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Arial" panose="020B0604020202020204"/>
              <a:ea typeface="字魂105号-简雅黑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42557" y="1985642"/>
            <a:ext cx="12477115" cy="2876296"/>
            <a:chOff x="-213796" y="2707157"/>
            <a:chExt cx="9357836" cy="2453673"/>
          </a:xfrm>
        </p:grpSpPr>
        <p:pic>
          <p:nvPicPr>
            <p:cNvPr id="6" name="图片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106877" y="2707157"/>
              <a:ext cx="9144000" cy="2453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-213796" y="3045633"/>
              <a:ext cx="9357836" cy="1860233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t"/>
            <a:lstStyle/>
            <a:p>
              <a:pPr algn="ctr">
                <a:lnSpc>
                  <a:spcPct val="150000"/>
                </a:lnSpc>
              </a:pPr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储慧智能</a:t>
              </a:r>
              <a:r>
                <a:rPr lang="en-US" altLang="zh-CN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&amp;</a:t>
              </a:r>
              <a:r>
                <a:rPr lang="zh-CN" altLang="en-US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中国人民大学 合作项目</a:t>
              </a:r>
              <a:endPara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《</a:t>
              </a:r>
              <a:r>
                <a:rPr lang="zh-CN" altLang="zh-CN" sz="3200" b="1" dirty="0">
                  <a:solidFill>
                    <a:schemeClr val="bg1"/>
                  </a:solidFill>
                </a:rPr>
                <a:t>基于大模型和数据工程的储能智研中枢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》</a:t>
              </a:r>
              <a:endParaRPr lang="en-US" altLang="zh-CN" sz="7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517" y="78500"/>
            <a:ext cx="2430966" cy="1666388"/>
          </a:xfrm>
          <a:prstGeom prst="rect">
            <a:avLst/>
          </a:prstGeom>
        </p:spPr>
      </p:pic>
      <p:pic>
        <p:nvPicPr>
          <p:cNvPr id="3" name="图片 2" descr="图示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834" y="5258713"/>
            <a:ext cx="4672450" cy="762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25291" y="1248382"/>
            <a:ext cx="7069509" cy="3257174"/>
            <a:chOff x="4051938" y="1713590"/>
            <a:chExt cx="5766889" cy="3257174"/>
          </a:xfrm>
        </p:grpSpPr>
        <p:sp>
          <p:nvSpPr>
            <p:cNvPr id="17" name="矩形 16"/>
            <p:cNvSpPr/>
            <p:nvPr/>
          </p:nvSpPr>
          <p:spPr>
            <a:xfrm>
              <a:off x="4310378" y="1881820"/>
              <a:ext cx="3612513" cy="19551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28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28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</a:pPr>
              <a:endParaRPr lang="zh-CN" altLang="en-US" sz="28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051938" y="1713590"/>
              <a:ext cx="5766889" cy="3257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zh-CN" sz="2800" b="1" i="0" u="none" strike="noStrike" dirty="0">
                <a:solidFill>
                  <a:srgbClr val="060607"/>
                </a:solidFill>
                <a:effectLst/>
                <a:latin typeface="-apple-system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zh-CN" sz="2800" b="1" i="0" u="none" strike="noStrike" dirty="0">
                  <a:effectLst/>
                  <a:latin typeface="-apple-system"/>
                </a:rPr>
                <a:t>01.</a:t>
              </a:r>
              <a:r>
                <a:rPr lang="zh-CN" altLang="en-US" sz="2800" b="1" i="0" u="none" strike="noStrike" dirty="0">
                  <a:effectLst/>
                  <a:latin typeface="-apple-system"/>
                </a:rPr>
                <a:t> </a:t>
              </a:r>
              <a:r>
                <a:rPr lang="zh-CN" altLang="en-US" sz="2800" b="1" dirty="0">
                  <a:latin typeface="-apple-system"/>
                </a:rPr>
                <a:t>文档解析</a:t>
              </a:r>
              <a:endParaRPr lang="en-US" altLang="zh-CN" sz="2800" b="1" i="0" u="none" strike="noStrike" dirty="0">
                <a:effectLst/>
                <a:latin typeface="-apple-system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zh-CN" sz="2800" b="1" dirty="0">
                  <a:latin typeface="-apple-system"/>
                </a:rPr>
                <a:t>02.</a:t>
              </a:r>
              <a:r>
                <a:rPr lang="zh-CN" altLang="en-US" sz="2800" b="1" dirty="0">
                  <a:latin typeface="-apple-system"/>
                </a:rPr>
                <a:t> 信息抽取</a:t>
              </a:r>
              <a:endParaRPr lang="en-US" altLang="zh-CN" sz="2800" b="1" i="0" u="none" strike="noStrike" dirty="0">
                <a:effectLst/>
                <a:latin typeface="-apple-system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zh-CN" sz="2800" b="1" dirty="0">
                  <a:latin typeface="-apple-system"/>
                </a:rPr>
                <a:t>03.</a:t>
              </a:r>
              <a:r>
                <a:rPr lang="zh-CN" altLang="en-US" sz="2800" b="1" dirty="0">
                  <a:latin typeface="-apple-system"/>
                </a:rPr>
                <a:t> 电池研发知识库</a:t>
              </a:r>
              <a:endParaRPr lang="en-US" altLang="zh-CN" sz="2800" b="1" dirty="0">
                <a:latin typeface="-apple-system"/>
              </a:endParaRPr>
            </a:p>
            <a:p>
              <a:pPr lvl="1">
                <a:lnSpc>
                  <a:spcPct val="150000"/>
                </a:lnSpc>
              </a:pPr>
              <a:r>
                <a:rPr lang="en-US" altLang="zh-CN" sz="2800" b="1" dirty="0">
                  <a:latin typeface="-apple-system"/>
                </a:rPr>
                <a:t>04.</a:t>
              </a:r>
              <a:r>
                <a:rPr lang="zh-CN" altLang="en-US" sz="2800" b="1" dirty="0">
                  <a:latin typeface="-apple-system"/>
                </a:rPr>
                <a:t> </a:t>
              </a:r>
              <a:r>
                <a:rPr lang="en-GB" altLang="zh-CN" sz="2800" b="1" dirty="0">
                  <a:latin typeface="-apple-system"/>
                </a:rPr>
                <a:t>RAG</a:t>
              </a:r>
              <a:r>
                <a:rPr lang="zh-CN" altLang="en-US" sz="2800" b="1" dirty="0">
                  <a:latin typeface="-apple-system"/>
                </a:rPr>
                <a:t>检索增强</a:t>
              </a:r>
              <a:endParaRPr lang="en-US" altLang="zh-CN" sz="2800" b="1" dirty="0">
                <a:latin typeface="-apple-system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310378" y="3342177"/>
              <a:ext cx="5068154" cy="6624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33" name="直接连接符 32"/>
          <p:cNvCxnSpPr/>
          <p:nvPr/>
        </p:nvCxnSpPr>
        <p:spPr>
          <a:xfrm flipV="1">
            <a:off x="3439795" y="1424940"/>
            <a:ext cx="0" cy="3815715"/>
          </a:xfrm>
          <a:prstGeom prst="line">
            <a:avLst/>
          </a:prstGeom>
          <a:ln w="28575">
            <a:gradFill>
              <a:gsLst>
                <a:gs pos="0">
                  <a:srgbClr val="47C6EA"/>
                </a:gs>
                <a:gs pos="100000">
                  <a:srgbClr val="0B48A4"/>
                </a:gs>
              </a:gsLst>
              <a:lin ang="492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1610360" y="2111375"/>
            <a:ext cx="1043940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60000"/>
              </a:lnSpc>
              <a:buNone/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文档解析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85763" y="1214438"/>
            <a:ext cx="14029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书籍</a:t>
            </a:r>
            <a:endParaRPr kumimoji="1"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XXXXX</a:t>
            </a:r>
            <a:endParaRPr kumimoji="1"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XXXXX</a:t>
            </a:r>
            <a:endParaRPr kumimoji="1"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385763" y="3735687"/>
            <a:ext cx="14606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论文</a:t>
            </a:r>
            <a:endParaRPr kumimoji="1"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XXXXX</a:t>
            </a:r>
            <a:endParaRPr kumimoji="1"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XXXXX</a:t>
            </a:r>
            <a:endParaRPr kumimoji="1"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42557" y="1985642"/>
            <a:ext cx="12477115" cy="2876296"/>
            <a:chOff x="-213796" y="2707157"/>
            <a:chExt cx="9357836" cy="2453673"/>
          </a:xfrm>
        </p:grpSpPr>
        <p:pic>
          <p:nvPicPr>
            <p:cNvPr id="6" name="图片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106877" y="2707157"/>
              <a:ext cx="9144000" cy="2453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-213796" y="3045633"/>
              <a:ext cx="9357836" cy="1860233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t"/>
            <a:lstStyle/>
            <a:p>
              <a:pPr algn="ctr">
                <a:lnSpc>
                  <a:spcPct val="150000"/>
                </a:lnSpc>
              </a:pPr>
              <a:r>
                <a:rPr lang="zh-CN" altLang="en-US" sz="5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数据工程与多模态智能实验室</a:t>
              </a:r>
              <a:endPara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Data Engineering &amp; Multimodal Intelligence Lab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517" y="78500"/>
            <a:ext cx="2430966" cy="1666388"/>
          </a:xfrm>
          <a:prstGeom prst="rect">
            <a:avLst/>
          </a:prstGeom>
        </p:spPr>
      </p:pic>
      <p:pic>
        <p:nvPicPr>
          <p:cNvPr id="3" name="图片 2" descr="图示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834" y="5258713"/>
            <a:ext cx="4672450" cy="762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5152.069291338583,&quot;width&quot;:19200}"/>
</p:tagLst>
</file>

<file path=ppt/tags/tag2.xml><?xml version="1.0" encoding="utf-8"?>
<p:tagLst xmlns:p="http://schemas.openxmlformats.org/presentationml/2006/main">
  <p:tag name="KSO_WM_UNIT_PLACING_PICTURE_USER_VIEWPORT" val="{&quot;height&quot;:5152.069291338583,&quot;width&quot;:19200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17445"/>
      </a:accent1>
      <a:accent2>
        <a:srgbClr val="E94744"/>
      </a:accent2>
      <a:accent3>
        <a:srgbClr val="009288"/>
      </a:accent3>
      <a:accent4>
        <a:srgbClr val="015A74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">
      <a:majorFont>
        <a:latin typeface="Times New Roman"/>
        <a:ea typeface="汉仪旗黑"/>
        <a:cs typeface=""/>
      </a:majorFont>
      <a:minorFont>
        <a:latin typeface="Times New Roman"/>
        <a:ea typeface="汉仪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76200" cap="flat" cmpd="sng" algn="ctr">
          <a:noFill/>
          <a:prstDash val="solid"/>
          <a:miter lim="800000"/>
        </a:ln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0" cap="none" spc="0" normalizeH="0" baseline="0" noProof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rial" panose="020B0604020202020204"/>
            <a:ea typeface="微软雅黑" panose="020B050302020402020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WPS 演示</Application>
  <PresentationFormat>宽屏</PresentationFormat>
  <Paragraphs>27</Paragraphs>
  <Slides>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字魂105号-简雅黑</vt:lpstr>
      <vt:lpstr>思源黑体 Light</vt:lpstr>
      <vt:lpstr>黑体</vt:lpstr>
      <vt:lpstr>-apple-system</vt:lpstr>
      <vt:lpstr>Segoe Print</vt:lpstr>
      <vt:lpstr>汉仪旗黑</vt:lpstr>
      <vt:lpstr>Arial Unicode MS</vt:lpstr>
      <vt:lpstr>Times New Roman</vt:lpstr>
      <vt:lpstr>Office 主题​​</vt:lpstr>
      <vt:lpstr>PowerPoint 演示文稿</vt:lpstr>
      <vt:lpstr>PowerPoint 演示文稿</vt:lpstr>
      <vt:lpstr>文档解析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一天到晚那啥的猴♑</cp:lastModifiedBy>
  <cp:revision>685</cp:revision>
  <dcterms:created xsi:type="dcterms:W3CDTF">2024-10-14T14:41:00Z</dcterms:created>
  <dcterms:modified xsi:type="dcterms:W3CDTF">2026-10-28T11:40:22Z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218B47E8191EDC715D0E0D67F28B59F9_41</vt:lpwstr>
  </property>
</Properties>
</file>